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/>
          <p:nvPr>
            <p:ph idx="2" type="sldImg"/>
          </p:nvPr>
        </p:nvSpPr>
        <p:spPr>
          <a:xfrm>
            <a:off x="1147763" y="688975"/>
            <a:ext cx="4567237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913805" y="4343703"/>
            <a:ext cx="5030391" cy="41108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a4eb73041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da4eb7304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da4eb73041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a4eb73041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da4eb730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da4eb73041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4eb73041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da4eb7304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da4eb73041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a4eb73041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da4eb7304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da4eb73041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K K Birla Goa Campus</a:t>
            </a:r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2" name="Google Shape;22;p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25" name="Google Shape;25;p3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7" name="Google Shape;27;p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1" name="Google Shape;31;p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039813" y="4191000"/>
            <a:ext cx="6781800" cy="1981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300413" y="6192838"/>
            <a:ext cx="2260600" cy="55562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39813" y="6192838"/>
            <a:ext cx="2260600" cy="55562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510213" y="6192838"/>
            <a:ext cx="2260600" cy="555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4">
            <a:alphaModFix/>
          </a:blip>
          <a:srcRect b="28586" l="0" r="0" t="0"/>
          <a:stretch/>
        </p:blipFill>
        <p:spPr>
          <a:xfrm>
            <a:off x="1014413" y="4191000"/>
            <a:ext cx="1606550" cy="154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/>
          <p:nvPr/>
        </p:nvSpPr>
        <p:spPr>
          <a:xfrm>
            <a:off x="1044575" y="5619750"/>
            <a:ext cx="1725613" cy="4016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 Pilani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039813" y="5892800"/>
            <a:ext cx="2108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 K Birla Goa Campus</a:t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2286000" y="3929063"/>
            <a:ext cx="6019800" cy="2103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lt1"/>
                </a:solidFill>
              </a:rPr>
              <a:t>Design Oriented Project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lt1"/>
                </a:solidFill>
              </a:rPr>
              <a:t>End Semester Report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lt1"/>
                </a:solidFill>
              </a:rPr>
              <a:t>Graph Colouring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971799" y="5734050"/>
            <a:ext cx="4799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None/>
            </a:pPr>
            <a:r>
              <a:rPr b="1" lang="en-US">
                <a:solidFill>
                  <a:srgbClr val="FF0000"/>
                </a:solidFill>
              </a:rPr>
              <a:t>Rajvi Sampat</a:t>
            </a:r>
            <a:endParaRPr b="1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381000" y="6255655"/>
            <a:ext cx="8305800" cy="60234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Studied the Star Colouring of Generalised Peterson Graphs and observed an upper bound for the same</a:t>
            </a:r>
            <a:endParaRPr sz="2500"/>
          </a:p>
          <a:p>
            <a:pPr indent="-3873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We have a theorem for the upper bound of the star chromatic number of a graph of girth atleast 5.</a:t>
            </a:r>
            <a:endParaRPr sz="2500"/>
          </a:p>
          <a:p>
            <a:pPr indent="-3873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We observe the girth of Generalised Peterson graphs. Most of these P(n,k) have girth atleast 5</a:t>
            </a:r>
            <a:endParaRPr sz="2500"/>
          </a:p>
          <a:p>
            <a:pPr indent="-3873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We observe the </a:t>
            </a:r>
            <a:r>
              <a:rPr lang="en-US" sz="2500"/>
              <a:t>independence</a:t>
            </a:r>
            <a:r>
              <a:rPr lang="en-US" sz="2500"/>
              <a:t> number of P(n,k)</a:t>
            </a:r>
            <a:endParaRPr sz="2500"/>
          </a:p>
          <a:p>
            <a:pPr indent="-3873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We extend the theorem for graphs of girth atleast 5 to the class of Generalised Peterson Graphs</a:t>
            </a:r>
            <a:endParaRPr sz="2500"/>
          </a:p>
        </p:txBody>
      </p:sp>
      <p:sp>
        <p:nvSpPr>
          <p:cNvPr id="58" name="Google Shape;58;p5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152400" y="381000"/>
            <a:ext cx="66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lang="en-US" sz="2200">
                <a:solidFill>
                  <a:srgbClr val="00B050"/>
                </a:solidFill>
              </a:rPr>
              <a:t>Star Colouring of Generalised Peterson Graphs</a:t>
            </a:r>
            <a:endParaRPr b="1" i="0" sz="22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 sz="2600">
                <a:solidFill>
                  <a:srgbClr val="00B050"/>
                </a:solidFill>
              </a:rPr>
              <a:t>Star Colouring of Some Generalised Peterson Graphs</a:t>
            </a:r>
            <a:endParaRPr sz="2600">
              <a:solidFill>
                <a:srgbClr val="00B050"/>
              </a:solidFill>
            </a:endParaRPr>
          </a:p>
        </p:txBody>
      </p:sp>
      <p:sp>
        <p:nvSpPr>
          <p:cNvPr id="66" name="Google Shape;66;p6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25-Nov-20</a:t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368000" y="1689400"/>
            <a:ext cx="849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351275" y="1756325"/>
            <a:ext cx="863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First, we observe the Star Chromatic Number for some P(n,k)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Star chromatic number of P(5,2) = 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Star chromatic number of P(6,2) = 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Star Chromatic number of P(7,2) = 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Star Chromatic number of P(8,2)=5</a:t>
            </a:r>
            <a:endParaRPr/>
          </a:p>
        </p:txBody>
      </p:sp>
      <p:pic>
        <p:nvPicPr>
          <p:cNvPr id="69" name="Google Shape;6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875" y="3615400"/>
            <a:ext cx="2503451" cy="250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475" y="3529350"/>
            <a:ext cx="2930500" cy="29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6900" y="3666648"/>
            <a:ext cx="2503450" cy="2503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Graphs with Girth atleast 5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76200" y="6477000"/>
            <a:ext cx="4958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GRAPH COLORING AND ITS VARIANT</a:t>
            </a:r>
            <a:r>
              <a:rPr lang="en-US"/>
              <a:t>S - SANDHYA TP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434900" y="1722875"/>
            <a:ext cx="83301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The thesis studied had outlined a proof that if</a:t>
            </a:r>
            <a:r>
              <a:rPr lang="en-US" sz="1900"/>
              <a:t> G is a graph with girth at least five. Then (1) χs(G) ≤ 4α(G) and (2) there is an O(n^ 5 ) time algorithm to find a 4α(G)-star coloring of G, where n is the number of vertices in 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This is found by: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Obtaining an 8clique star partition of a {3K1, 2K2}-free graph in O(n+m)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Obtaining a 4ω(G)-clique star partition if G is a {3K1, 2K2}-free graph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The complement graph  G is a {K3, C4}-free graph, so G admits a 4α(G)-independent set star partition and χs(G) ≤ 4α(G).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G is a graph with girth at least five if and only if G is {K3, C4}-free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Hence the theorem is obtained for a graph of girth atleast 5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idx="2" type="body"/>
          </p:nvPr>
        </p:nvSpPr>
        <p:spPr>
          <a:xfrm>
            <a:off x="152400" y="396875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Finding the girth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76200" y="6492875"/>
            <a:ext cx="656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LENGTH OF CYCLES IN GENERALIZED PETERSEN GRAPHS - Zan-Bo Zhang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334525" y="1655950"/>
            <a:ext cx="8413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g(GP (n, k)) = min(8, n/gcd(n,k), k + 3, n − (k − 1)floor(n/k) + 2, (1 + k) ceil( n/k ) − n + 2).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Cycles of length k+3 are the smallest cycles formed by taking consecutive vertices of the inner cycle and k vertices of the outer cycles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Cycles of length n/gcd(n,k) are the lengths of the inner cycles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Every P(n,k) has a cycle of length 8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girth is less than 5, then: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n/gcd(n,k) &lt;5: i.e n= 3k or n = 4k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k+3 &lt; 5; i.e k = 1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 all other cases, girth &gt;=5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idx="2" type="body"/>
          </p:nvPr>
        </p:nvSpPr>
        <p:spPr>
          <a:xfrm>
            <a:off x="152400" y="396875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Finding the girth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94" name="Google Shape;94;p9"/>
          <p:cNvSpPr txBox="1"/>
          <p:nvPr>
            <p:ph idx="10" type="dt"/>
          </p:nvPr>
        </p:nvSpPr>
        <p:spPr>
          <a:xfrm>
            <a:off x="76200" y="6492875"/>
            <a:ext cx="656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LENGTH OF CYCLES IN GENERALIZED PETERSEN GRAPHS - Zan-Bo Zhang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334525" y="1655950"/>
            <a:ext cx="84135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The possible lengths of cycles in P (n, 2) are as follows.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(1) All GP (n, 2) contain l-cycles for l = 5 and 8 ≤ l ≤ 2n − 2;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(2) A GP (n, 2) contains 2n-cycles (i.e. Hamiltonian cycles) iff n 6≡ 5 (mod 6);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(3) A GP (n, 2) contains (2n − 1)-cycles iff n 6≡ 4 (mod 6);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(4) A GP (n, 2) contains 7-cycles iff n ∈ {6, 7, 8, 9, 14};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(5) A GP (n, 2) contains 6-cycles iff n ∈ {5, 6, 7, 12};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(6) A GP (n, 2) contains 4-cycles iff n = 8;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(7) A GP (n, 2) contains 3-cycles iff n = 6.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 possible lengths of cycles in GP (n, 3) are as follows.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(1) When n is even, GP (n, k) is bipartite, and is weakly even pancyclic;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(2) When n is odd, GP (n, k) contains cycles of every even length between its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girth and circumference, cycles of every odd length between b n−1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k c + 3 and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2n − 1, and cycles of length nk if n is a multiple of k.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idx="2" type="body"/>
          </p:nvPr>
        </p:nvSpPr>
        <p:spPr>
          <a:xfrm>
            <a:off x="152400" y="396875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Finding the girth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76200" y="6492875"/>
            <a:ext cx="656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LENGTH OF CYCLES IN GENERALIZED PETERSEN GRAPHS - Zan-Bo Zhang</a:t>
            </a: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334525" y="1655950"/>
            <a:ext cx="8413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Therefore, the class of Peterson graphs of girth atleast 5 include all P(n,k) except when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n=3k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n=4k</a:t>
            </a:r>
            <a:endParaRPr sz="1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k=1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Thus, the theorem studied for graphs of girth atleast 5 can be extended to P(n,k)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idx="2" type="body"/>
          </p:nvPr>
        </p:nvSpPr>
        <p:spPr>
          <a:xfrm>
            <a:off x="152400" y="396875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Finding the independence number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10" name="Google Shape;110;p11"/>
          <p:cNvSpPr txBox="1"/>
          <p:nvPr>
            <p:ph idx="10" type="dt"/>
          </p:nvPr>
        </p:nvSpPr>
        <p:spPr>
          <a:xfrm>
            <a:off x="76200" y="6492875"/>
            <a:ext cx="656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Independence </a:t>
            </a:r>
            <a:r>
              <a:rPr lang="en-US"/>
              <a:t>number</a:t>
            </a:r>
            <a:r>
              <a:rPr lang="en-US"/>
              <a:t> of Generalised Peterson Graphs, Nazli Besharati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334525" y="1655950"/>
            <a:ext cx="84135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 independence number of a Generalised Peterson graph can be found in polynomial time, as given by Nazli Besharati in ‘Independence number of Generalised Peterson Graphs’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This is a special case of the theorem that the independence number of graphs with bounded tree width can be found in polynomial time.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Let G = (V, E) be a graph. A tree decomposition of G is a pair (X, T ), where X = {X1, X2, . . . , Xn} is a family of subsets of V , and T is a tree whose nodes are the subsets Xj , satisfying the following properties: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1) The union of all sets Xj equals V 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2) For every edge (v, w) in the graph, there is a subset Xj that contains both v and w.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3) If Xj is on the path from Xi to Xl in T then Xi ∩ Xl ⊆ Xj . In other words, for all vertices v ∈ V, all nodes Xi which contain v induce a connected subtree of T 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The width of (X, T ) is defined to be the size of the largest Xi minus one. The treewidth, tw(G), of the graph G is defined to be the minimum width of all its tree decompositions. The treewidth will be taken as a measure of how much a graph resembles a tree.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idx="2" type="body"/>
          </p:nvPr>
        </p:nvSpPr>
        <p:spPr>
          <a:xfrm>
            <a:off x="152400" y="396875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Finding the independence number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18" name="Google Shape;118;p12"/>
          <p:cNvSpPr txBox="1"/>
          <p:nvPr>
            <p:ph idx="10" type="dt"/>
          </p:nvPr>
        </p:nvSpPr>
        <p:spPr>
          <a:xfrm>
            <a:off x="76200" y="6492875"/>
            <a:ext cx="656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Independence number of Generalised Peterson Graphs, Nazli Besharati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334525" y="1655950"/>
            <a:ext cx="84135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Theorem A: The problem of finding a maximum independent set of a graph G with bounded treewidth, tw(G) ≤ l can be solved in O((2^3l)n) by dynamic programming techniques, where n is the number of vertices of graph.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For any fixed k, the problem of finding independence number of the graphs P(n, k) can be solved by an algorithm with running time O(n).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Proof: We need to show that tw(P(n,k)) is bounded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Consider the following tree decomposition of P(n, k) of width 4k + 3.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WLOG we can only consider the case where n &gt; 2k + 1. Let T be the path of order n − 2k − 1 and define X1, X2, . . . , Xn−2k−1 as follows: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X1 = {u1, v1, u2, v2, . . . , uk+1, vk+1, un−k, vn−k, un−k+1, vn−k+1, . . . , un, vn},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X2 = (X1 \ {u1, v1}) ∪ {uk+2, vk+2},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X3 = (X2 \ {un, vn}) ∪ {un−k−1, vn−k−1},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X4 = (X3 \ {u2, v2}) ∪ {uk+3, vk+3},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X5 = (X4 \ {un−1, vn−1}) ∪ {un−k−2, vn−k−2}, and so on.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Notice that in each step we remove two elements and add two other elements. Therefore |Xi | = 4k + 4 for all i. One can easily see that (X, T ) is a tree decomposition for P(n, k) where X = {X1, X2, . . . , Xn−2k−1}. Thus, tw(P(n, k)) ≤ 4k + 3 and by Theorem A, the proof is complete.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Extending the Results for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25" name="Google Shape;125;p13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25-Nov-20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18175" y="1655950"/>
            <a:ext cx="8229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Thus, for P(n,k)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where n != 3k,4k and k!=1,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can find the independence number in O(n) time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can find a  </a:t>
            </a:r>
            <a:r>
              <a:rPr lang="en-US" sz="1900">
                <a:solidFill>
                  <a:schemeClr val="dk1"/>
                </a:solidFill>
              </a:rPr>
              <a:t>4α(G)-star coloring of G in O(n^5) time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Total time complexity : O(n^5)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Star Chromatic Index of P(n,k)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6200" y="6477000"/>
            <a:ext cx="6464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</a:t>
            </a:r>
            <a:r>
              <a:rPr lang="en-US" sz="1400"/>
              <a:t>:</a:t>
            </a:r>
            <a:r>
              <a:rPr lang="en-US" sz="900">
                <a:solidFill>
                  <a:schemeClr val="dk1"/>
                </a:solidFill>
              </a:rPr>
              <a:t>ON </a:t>
            </a:r>
            <a:r>
              <a:rPr lang="en-US" sz="900">
                <a:solidFill>
                  <a:schemeClr val="dk1"/>
                </a:solidFill>
              </a:rPr>
              <a:t> THE STAR CHROMATIC INDEX OF GENERALIZED PETERSEN GRAPHS :Enqiang Zhu and Zehui Shao</a:t>
            </a:r>
            <a:r>
              <a:rPr lang="en-US" sz="900"/>
              <a:t> </a:t>
            </a:r>
            <a:endParaRPr sz="900"/>
          </a:p>
        </p:txBody>
      </p:sp>
      <p:sp>
        <p:nvSpPr>
          <p:cNvPr id="133" name="Google Shape;133;p14"/>
          <p:cNvSpPr txBox="1"/>
          <p:nvPr/>
        </p:nvSpPr>
        <p:spPr>
          <a:xfrm>
            <a:off x="518525" y="1756325"/>
            <a:ext cx="7978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 star k-edge-coloring of a graph G is a proper edge-coloring using k colors such that at least three distinct colors are assigned to the edges of every path and cycle of length four. The minimum number k for which G admits a star k-edge-coloring is called the star chromatic index of G and is denoted by χ’ s (G).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Results: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χ’s (P(n, k)) = 4 if and only if n is a multiple of 4 and k is an odd number.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For any two integers k and n (≥ 2k + 1) such that GCD(n, k) ≥ 3, P(n, k) has a star 5-edge-coloring, with the exception of the case that GCD(n, k) = 3, k != GCD(n, k) and n /3 ≡ 1 (mod 3).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idx="2" type="body"/>
          </p:nvPr>
        </p:nvSpPr>
        <p:spPr>
          <a:xfrm>
            <a:off x="1524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>
                <a:solidFill>
                  <a:srgbClr val="00B050"/>
                </a:solidFill>
              </a:rPr>
              <a:t>References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39" name="Google Shape;139;p15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25-Nov-20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51625" y="1773050"/>
            <a:ext cx="79284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GRAPH COLORING AND ITS VARIANTS- Sandhya TP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INDEPENDENCE NUMBER OF GENERALISED PETERSON GRAPHS : Nazli Besharati  , J. B. Ebrahimi , A. Azadi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LENGTH OF CYCLES IN GENERALIZED PETERSEN GRAPHS: Zan-Bo Zhang and Zhaojun Chen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ON THE STAR CHROMATIC INDEX OF GENERALIZED PETERSEN GRAPHS :Enqiang Zhu and Zehui Shao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None/>
            </a:pPr>
            <a:r>
              <a:t/>
            </a:r>
            <a:endParaRPr sz="4000"/>
          </a:p>
          <a:p>
            <a:pPr indent="-342900" lvl="0" marL="342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000"/>
              <a:buFont typeface="Arial"/>
              <a:buNone/>
            </a:pPr>
            <a:r>
              <a:t/>
            </a:r>
            <a:endParaRPr sz="4000"/>
          </a:p>
          <a:p>
            <a:pPr indent="-342900" lvl="0" marL="342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000"/>
              <a:buFont typeface="Arial"/>
              <a:buNone/>
            </a:pPr>
            <a:r>
              <a:rPr lang="en-US" sz="4000"/>
              <a:t>Thank you! </a:t>
            </a:r>
            <a:endParaRPr sz="4000"/>
          </a:p>
        </p:txBody>
      </p:sp>
      <p:sp>
        <p:nvSpPr>
          <p:cNvPr id="146" name="Google Shape;146;p16"/>
          <p:cNvSpPr txBox="1"/>
          <p:nvPr>
            <p:ph idx="10" type="dt"/>
          </p:nvPr>
        </p:nvSpPr>
        <p:spPr>
          <a:xfrm>
            <a:off x="76200" y="6477000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25-Nov-20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